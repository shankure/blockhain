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7178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548640"/>
            <a:ext cx="1005840" cy="10058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🔐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SecureTrace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Cryptographically Linked Digital Evidence Locker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0"/>
          </a:xfrm>
          <a:prstGeom prst="line">
            <a:avLst/>
          </a:prstGeom>
          <a:noFill/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Oriented Architecture  ·  South East European University  ·  2025/2026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Student: Darko Koprivnjak, dk131023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4114800"/>
            <a:ext cx="2743200" cy="457200"/>
          </a:xfrm>
          <a:prstGeom prst="rect">
            <a:avLst/>
          </a:prstGeom>
          <a:solidFill>
            <a:srgbClr val="0F346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0" y="4114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github.com/shankure/blockchain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28090"/>
                </a:solidFill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</a:rPr>
              <a:t>Chain of Custody in Digital Forensics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834640" cy="7315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3258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⚠️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11480" y="2103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Tampered Evidence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" y="274320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evidence stored in standard databases can be silently altered — no trace, no detection.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1430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834640" cy="7315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46120" y="13258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🔓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383280" y="2103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Integrity Proof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274320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Courts require proof that evidence hasn't changed since collection. Standard systems cannot provide this.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1430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217920" y="1143000"/>
            <a:ext cx="2834640" cy="7315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0" y="132588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📋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55080" y="21031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Chain of Custody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274320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accessed the evidence, when, and what did they change? Traditional systems have no audit trail.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28090"/>
                </a:solidFill>
              </a:rPr>
              <a:t>OUR SOLUTION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</a:rPr>
              <a:t>SecureTrace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Hash Ledger that makes tampering mathematically detectable.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74320" y="1645920"/>
            <a:ext cx="859536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645920"/>
            <a:ext cx="73152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🔗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34440" y="171907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Chain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2066544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evidence action creates a SHA-256 block. Each block contains the hash of the previous — alter one block, the entire chain breaks.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697480"/>
            <a:ext cx="859536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2697480"/>
            <a:ext cx="73152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69748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👥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34440" y="277063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34440" y="3118104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roles: Admin (full access), Field Agent (upload only), Legal Auditor (read + verify only). JWT tokens enforce every boundary.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3749040"/>
            <a:ext cx="859536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0F34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3749040"/>
            <a:ext cx="73152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57200" y="374904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✅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34440" y="38221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Verification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4169664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/api/audit/verify re-computes every hash in the chain. Returns tamper-proof proof in milliseconds — green if intact, red if breached.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28090"/>
                </a:solidFill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</a:rPr>
              <a:t>System Design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097280"/>
            <a:ext cx="6400800" cy="6583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463040" y="1133856"/>
            <a:ext cx="6217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1444752"/>
            <a:ext cx="6217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· Dashboard · Evidence · Audit Ledger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297680" y="175564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</a:rPr>
              <a:t>↓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0" y="2057400"/>
            <a:ext cx="6400800" cy="658368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463040" y="2093976"/>
            <a:ext cx="6217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API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63040" y="2404872"/>
            <a:ext cx="6217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→ Services → Repositories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0" y="271576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371600" y="3017520"/>
            <a:ext cx="6400800" cy="658368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463040" y="3054096"/>
            <a:ext cx="6217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(EF Core)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63040" y="3364992"/>
            <a:ext cx="6217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Cases · Evidences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0" y="3675888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</a:rPr>
              <a:t>↓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371600" y="3749040"/>
            <a:ext cx="6400800" cy="65836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463040" y="3785616"/>
            <a:ext cx="6217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(Audit Ledger)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4096512"/>
            <a:ext cx="6217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audit_blocks collection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63840" y="1371600"/>
            <a:ext cx="1234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7B8BAA"/>
                </a:solidFill>
              </a:rPr>
              <a:t>JWT Bearer Tokens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772400" y="1426464"/>
            <a:ext cx="0" cy="105156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28090"/>
                </a:solidFill>
              </a:rPr>
              <a:t>CORE FEATURE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Cryptographic Chain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743200" cy="3566160"/>
          </a:xfrm>
          <a:prstGeom prst="rect">
            <a:avLst/>
          </a:prstGeom>
          <a:solidFill>
            <a:srgbClr val="16213E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743200" cy="38404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0972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Block #1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60020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 HASH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18470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0000000000000000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2304288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65760" y="2578608"/>
            <a:ext cx="1005840" cy="29260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25786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CREATED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9992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65760" y="32552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EvidenceId: 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63931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 HASH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5760" y="387705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SHA-256(...)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017520" y="2743200"/>
            <a:ext cx="5029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17520" y="25146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246120" y="1097280"/>
            <a:ext cx="2743200" cy="3566160"/>
          </a:xfrm>
          <a:prstGeom prst="rect">
            <a:avLst/>
          </a:prstGeom>
          <a:solidFill>
            <a:srgbClr val="16213E"/>
          </a:solidFill>
          <a:ln w="12700">
            <a:solidFill>
              <a:srgbClr val="2980B9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46120" y="1097280"/>
            <a:ext cx="2743200" cy="384048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46120" y="10972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Block #2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337560" y="160020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 HASH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337560" y="18470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3f6c03167bfb12...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37560" y="2304288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337560" y="2578608"/>
            <a:ext cx="1005840" cy="292608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337560" y="25786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CREATED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37560" y="29992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337560" y="32552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EvidenceId: 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337560" y="363931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 HASH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337560" y="387705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980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SHA-256(...)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989320" y="2743200"/>
            <a:ext cx="5029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989320" y="251460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</a:rPr>
              <a:t>→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217920" y="1097280"/>
            <a:ext cx="2743200" cy="3566160"/>
          </a:xfrm>
          <a:prstGeom prst="rect">
            <a:avLst/>
          </a:prstGeom>
          <a:solidFill>
            <a:srgbClr val="16213E"/>
          </a:solidFill>
          <a:ln w="1270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217920" y="1097280"/>
            <a:ext cx="2743200" cy="38404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17920" y="109728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Block #3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309360" y="160020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 HASH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309360" y="184708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b84ab72936c9e0...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309360" y="2304288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309360" y="2578608"/>
            <a:ext cx="1005840" cy="2926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309360" y="25786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UPDATED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09360" y="299923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309360" y="32552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EvidenceId: 4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309360" y="3639312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 HASH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309360" y="3877056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39C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SHA-256(...)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28090"/>
                </a:solidFill>
              </a:rPr>
              <a:t>SECURITY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8346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834640" cy="7315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👮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7452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224942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Investigator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578608"/>
            <a:ext cx="228600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724912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/ update / delete Cases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200400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Upload, update, delete Evidence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3675888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chain verification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151376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access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46120" y="1097280"/>
            <a:ext cx="28346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46120" y="1097280"/>
            <a:ext cx="2834640" cy="7315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46120" y="123444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🕵️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337560" y="187452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337560" y="224942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Agent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520440" y="2578608"/>
            <a:ext cx="228600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383280" y="2724912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cases &amp; evidence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83280" y="3200400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&amp; update Evidence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83280" y="3675888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chain verification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83280" y="4151376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Cannot manage Cases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17920" y="1097280"/>
            <a:ext cx="283464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217920" y="1097280"/>
            <a:ext cx="2834640" cy="731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217920" y="123444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⚖️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309360" y="187452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309360" y="224942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Auditor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92240" y="2578608"/>
            <a:ext cx="2286000" cy="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355080" y="2724912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cases &amp; evidence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55080" y="3200400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chain verification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55080" y="3675888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audit blocks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55080" y="4151376"/>
            <a:ext cx="2560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Zero write access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28090"/>
                </a:solidFill>
              </a:rPr>
              <a:t>TECHNOLOGY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</a:rPr>
              <a:t>Stack &amp; Tools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25196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2980B9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64008" cy="8046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11430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8912" y="148132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API (.NET 10)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029968"/>
            <a:ext cx="425196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336791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2029968"/>
            <a:ext cx="64008" cy="80467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" y="207568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" y="241401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Entity Framework Core 9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962656"/>
            <a:ext cx="425196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4320" y="2962656"/>
            <a:ext cx="64008" cy="80467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38912" y="3008376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Ledger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8912" y="3346704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(append-only collection)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3895344"/>
            <a:ext cx="425196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74320" y="3895344"/>
            <a:ext cx="64008" cy="80467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8912" y="3941064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8912" y="4279392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 Tokens + BCrypt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709160" y="1097280"/>
            <a:ext cx="425196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709160" y="1097280"/>
            <a:ext cx="64008" cy="8046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73752" y="11430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73752" y="1481328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(System.Security.Cryptography)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2029968"/>
            <a:ext cx="425196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61DAFB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09160" y="2029968"/>
            <a:ext cx="64008" cy="804672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73752" y="2075688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1DA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73752" y="2414016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+ Axios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09160" y="2962656"/>
            <a:ext cx="425196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09160" y="2962656"/>
            <a:ext cx="64008" cy="80467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73752" y="3008376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73752" y="3346704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xUnit + Moq + FluentAssertions (30 tests)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3895344"/>
            <a:ext cx="4251960" cy="804672"/>
          </a:xfrm>
          <a:prstGeom prst="rect">
            <a:avLst/>
          </a:prstGeom>
          <a:solidFill>
            <a:srgbClr val="16213E"/>
          </a:solidFill>
          <a:ln w="12700">
            <a:solidFill>
              <a:srgbClr val="2088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709160" y="3895344"/>
            <a:ext cx="64008" cy="804672"/>
          </a:xfrm>
          <a:prstGeom prst="rect">
            <a:avLst/>
          </a:prstGeom>
          <a:solidFill>
            <a:srgbClr val="2088FF"/>
          </a:solidFill>
          <a:ln w="12700">
            <a:solidFill>
              <a:srgbClr val="2088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73752" y="3941064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08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73752" y="4279392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→ Azure App Service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28090"/>
                </a:solidFill>
              </a:rPr>
              <a:t>QUALITY ASSURANCE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</a:rPr>
              <a:t>30 Unit Tests — All Passing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011680" cy="2011680"/>
          </a:xfrm>
          <a:prstGeom prst="ellipse">
            <a:avLst/>
          </a:prstGeom>
          <a:solidFill>
            <a:srgbClr val="1A1A2E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28090"/>
                </a:solidFill>
              </a:rPr>
              <a:t>30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FFFFFF"/>
                </a:solidFill>
              </a:rPr>
              <a:t>TESTS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063240"/>
            <a:ext cx="1737360" cy="4572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306324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0 FAILED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1097280"/>
            <a:ext cx="6217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8458200" y="1225296"/>
            <a:ext cx="411480" cy="41148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58200" y="122529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788920" y="1143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CryptographyServiceTests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88920" y="1463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tests  ·  SHA-256 hashing, avalanche effect, payload building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51760" y="1874520"/>
            <a:ext cx="6217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458200" y="2002536"/>
            <a:ext cx="411480" cy="41148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458200" y="200253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788920" y="19202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VerificationServiceTests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88920" y="224028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tests  ·  Valid chain, tampered data, broken links, empty ledger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51760" y="2651760"/>
            <a:ext cx="6217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458200" y="2779776"/>
            <a:ext cx="411480" cy="41148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458200" y="277977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88920" y="2697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AuthServiceTests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788920" y="301752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tests  ·  Register, login, duplicate email, invalid role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651760" y="3429000"/>
            <a:ext cx="6217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458200" y="3557016"/>
            <a:ext cx="411480" cy="41148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458200" y="355701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788920" y="34747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CaseRepositoryTests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788920" y="379476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tests  ·  CRUD operations, auto case number generation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651760" y="4206240"/>
            <a:ext cx="6217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458200" y="4334256"/>
            <a:ext cx="411480" cy="41148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458200" y="433425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✓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788920" y="42519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CasesControllerTests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88920" y="457200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tests  ·  HTTP response codes, 403 role enforcement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460"/>
          </a:solidFill>
          <a:ln w="12700">
            <a:solidFill>
              <a:srgbClr val="0F34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28090"/>
                </a:solidFill>
              </a:rPr>
              <a:t>DEVOPS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</a:rPr>
              <a:t>CI/CD Pipeline &amp; Azure Deployment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1920240" cy="2286000"/>
          </a:xfrm>
          <a:prstGeom prst="rect">
            <a:avLst/>
          </a:prstGeom>
          <a:solidFill>
            <a:srgbClr val="16213E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📤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main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542032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origin main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286000" y="21031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514600" y="1188720"/>
            <a:ext cx="1920240" cy="2286000"/>
          </a:xfrm>
          <a:prstGeom prst="rect">
            <a:avLst/>
          </a:prstGeom>
          <a:solidFill>
            <a:srgbClr val="16213E"/>
          </a:solidFill>
          <a:ln w="12700">
            <a:solidFill>
              <a:srgbClr val="2980B9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514600" y="13258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📦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606040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&amp; Build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606040" y="2542032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98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build --Release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1031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63440" y="1188720"/>
            <a:ext cx="1920240" cy="2286000"/>
          </a:xfrm>
          <a:prstGeom prst="rect">
            <a:avLst/>
          </a:prstGeom>
          <a:solidFill>
            <a:srgbClr val="16213E"/>
          </a:solidFill>
          <a:ln w="1270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63440" y="13258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🧪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754880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30 Tests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54880" y="2542032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test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0" y="210312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28090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812280" y="1188720"/>
            <a:ext cx="1920240" cy="2286000"/>
          </a:xfrm>
          <a:prstGeom prst="rect">
            <a:avLst/>
          </a:prstGeom>
          <a:solidFill>
            <a:srgbClr val="16213E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12280" y="132588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☁️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903720" y="20116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Azure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03720" y="2542032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 Service F1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703320"/>
            <a:ext cx="3931920" cy="731520"/>
          </a:xfrm>
          <a:prstGeom prst="rect">
            <a:avLst/>
          </a:prstGeom>
          <a:solidFill>
            <a:srgbClr val="1B4D1B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370332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7AE60"/>
                </a:solidFill>
              </a:rPr>
              <a:t>✅  Build &amp; Test — PASSING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846320" y="3703320"/>
            <a:ext cx="3931920" cy="731520"/>
          </a:xfrm>
          <a:prstGeom prst="rect">
            <a:avLst/>
          </a:prstGeom>
          <a:solidFill>
            <a:srgbClr val="16213E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46320" y="3703320"/>
            <a:ext cx="3931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28090"/>
                </a:solidFill>
              </a:rPr>
              <a:t>⏳  Deployed on Azure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028090"/>
                </a:solidFill>
              </a:rPr>
              <a:t>DEMONSTRATION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FFFFFF"/>
                </a:solidFill>
              </a:rPr>
              <a:t>Live Demo 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4251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594360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143000"/>
            <a:ext cx="594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123444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3 Users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1645920"/>
            <a:ext cx="3474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Field Agent (User), and Legal Auditor — show different roles being created.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377440"/>
            <a:ext cx="4251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980B9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4320" y="2377440"/>
            <a:ext cx="594360" cy="10972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" y="2377440"/>
            <a:ext cx="594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0120" y="24688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Creates Cases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2880360"/>
            <a:ext cx="3474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2-3 realistic forensic cases. Show 403 when Auditor tries the same.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611880"/>
            <a:ext cx="4251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3611880"/>
            <a:ext cx="594360" cy="10972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3611880"/>
            <a:ext cx="594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60120" y="370332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Evidence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4114800"/>
            <a:ext cx="3474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3-4 evidence items per case. Each one creates a new block in MongoDB.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1143000"/>
            <a:ext cx="4251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09160" y="1143000"/>
            <a:ext cx="594360" cy="10972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09160" y="1143000"/>
            <a:ext cx="594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94960" y="123444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Chain — Green ✅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94960" y="1645920"/>
            <a:ext cx="3474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/api/audit/verify returns isValid: true. Show blocks in Audit Ledger UI.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2377440"/>
            <a:ext cx="4251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09160" y="2377440"/>
            <a:ext cx="594360" cy="109728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09160" y="2377440"/>
            <a:ext cx="594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394960" y="24688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with MongoDB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94960" y="2880360"/>
            <a:ext cx="3474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 block's EvidenceSnapshot directly in Compass — change one character.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3611880"/>
            <a:ext cx="4251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09160" y="3611880"/>
            <a:ext cx="594360" cy="109728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709160" y="3611880"/>
            <a:ext cx="594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394960" y="370332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Chain — Red 🚨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94960" y="4114800"/>
            <a:ext cx="3474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7B8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Re-verify: isValid: false. UI shows red indicator on the exact tampered block.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2801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.NET 10 Web API with JWT auth and 3 enforced roles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938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193852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cryptographic chain — tamper detection proven live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968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97280" y="2596896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unit tests across controllers, services, and repositories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25526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⚛️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3255264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 with real-time ledger visualization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9136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097280" y="3913632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 pipeline — green on every push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8229600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28090"/>
                </a:solidFill>
              </a:rPr>
              <a:t>Thank you  ·  Questions?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779</Words>
  <Application>Microsoft Office PowerPoint</Application>
  <PresentationFormat>On-screen Show (16:9)</PresentationFormat>
  <Paragraphs>197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SecureTrace - Final Project Presentation</dc:title>
  <dc:subject>PptxGenJS Presentation</dc:subject>
  <dc:creator>PptxGenJS</dc:creator>
  <cp:lastModifiedBy>Darko Koprivnjak</cp:lastModifiedBy>
  <cp:revision>3</cp:revision>
  <dcterms:created xsi:type="dcterms:W3CDTF">2026-05-21T08:13:05Z</dcterms:created>
  <dcterms:modified xsi:type="dcterms:W3CDTF">2026-05-21T08:18:24Z</dcterms:modified>
</cp:coreProperties>
</file>